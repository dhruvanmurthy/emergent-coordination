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1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97C1-1B23-56B1-A38A-0A82941C0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489A3C-011F-DD81-A64E-96A8A03D4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5FC3E-2ED8-9B15-76E7-D2886B93B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FADB7-D26D-67D4-CC7E-2FA63738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D9CC3-25D9-BBFA-CA6E-74FB83B4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359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CEBED-5151-0380-2114-929A27AC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C6E99-3D6A-7CA0-BA4C-46552F5D5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1BF5-33EE-136C-F977-3264776B8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09444-C983-708D-5909-8628CDE9F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DB5B0-BCCF-4500-C620-CD38574A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38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7758-E46C-804E-A29A-379840874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DE36B-1651-91CF-5EAF-51C9A064C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77790-EC6D-AC3C-BECC-F426F8E49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80D81-0CC9-5237-F06C-30E9DE7F9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7D1C4-25E5-DA1D-14FC-A8D10DC8F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456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4DBD1-389E-2BA9-DADF-069650D78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06BE4-9F0F-8C6C-377E-3830F629C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C7D4B-78A7-866F-594D-37FA05A96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C39F8-CF9E-1268-7C92-CF6BC45D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1EDE6-8F2E-17EB-B5AA-C2FD8BD8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66D9F-5D28-B86E-0F37-53718754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427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2E08-74FB-C319-DB73-FC68BE1B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4CF12-C89B-041A-A0FF-789FA7B4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CC8A7-8A12-ADCA-8A47-9FDD45904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C3AC78-4873-CC11-A927-3AAEEF4B5A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9BE4BA-A906-4553-F944-5D47A7B0F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2F9D0A-DCA1-741E-69D3-B2B3C325C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CB00EE-F570-2C05-D88D-20B7CD0F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60E252-B714-A19A-9446-0FA2BAFFA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39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7348-8513-4389-9583-D082D39E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0C966-671B-3AE9-D0B6-CF2505AAA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F08AA9-7C04-16B6-E2B7-6D243CEB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C1330-4EBC-BDFD-F5B6-0A2272E1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77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DCC943-C974-4BA4-1DB3-E852E63A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4246A-6290-75C6-5CE1-EFFC8FC5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7BDFD-0AD7-C4B1-EDD8-1B4012612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38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E5F8-EF14-A393-7F18-126761A4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7E9AB-2F58-19CC-6240-36390CC51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DEE0B-F955-2BB4-AE53-724C17D70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34BA7-A1F4-CA39-E82B-2D0F6D4F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12221-E7E9-5297-AB09-3202966C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39E78-64A3-D5E7-7503-51E8AD865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674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BC4B5-E8C0-F98A-CF91-038C3C38E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2CDDEA-4BC9-D058-F4D7-E026D2C84B5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C6D4F-FD38-31AB-5B39-84840CFAE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90ECA-7E52-F5C4-D90B-6A7A71D6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637F2-0D2D-6974-77FB-F42F60C12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0065B-8DAC-0E67-A35B-3E3C623E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198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B1EDB-00B6-9D9E-21F6-8B1ADDE50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D1199-AA73-D94F-6A40-E5A64C856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34214-B7F4-D4E0-2BAF-CF489E9D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5D3A8-BEEE-1429-F71E-E0E2D5DE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AAD5C-6FC3-BA82-24B4-314467FEB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6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56DDC0-5247-2311-ADCD-794A99A35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C0351-F147-B72C-82FF-8EE32D9DB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7105B-3576-8619-E140-4B4FC9637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0E312-4822-B4A8-283F-2F568FA28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FAB94-2854-E2CF-31E1-BC65FF63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64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ED282-B73F-0D9B-00AB-E401393F8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7BA20-55B7-EB69-1AF6-859307389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A50E0-D30F-CC06-B09E-2B192C9B6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76DD6-88BE-4057-A08D-A5A6954A3EB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7A9BB-EB85-1F12-2A38-3F6ABA2E2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878D7-6DDB-A27D-EDDE-F6E89A365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2063B-E7F7-4EB7-9CD1-BC453534B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375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9D06D8-9E3E-9F78-785A-BE0352C2D604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90433-7506-6F56-ED98-EBAF4189C307}"/>
              </a:ext>
            </a:extLst>
          </p:cNvPr>
          <p:cNvSpPr txBox="1"/>
          <p:nvPr/>
        </p:nvSpPr>
        <p:spPr>
          <a:xfrm>
            <a:off x="736600" y="1270000"/>
            <a:ext cx="10668000" cy="1082348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</a:rPr>
              <a:t>Investigating Coordination Signals in Multi-Agent Tool-Using Language Models</a:t>
            </a:r>
            <a:endParaRPr lang="en-IN" sz="3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76310-33E9-2B3E-A6FE-ADB5CC7B409E}"/>
              </a:ext>
            </a:extLst>
          </p:cNvPr>
          <p:cNvSpPr txBox="1"/>
          <p:nvPr/>
        </p:nvSpPr>
        <p:spPr>
          <a:xfrm>
            <a:off x="762000" y="2794000"/>
            <a:ext cx="10160000" cy="405239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800">
                <a:solidFill>
                  <a:srgbClr val="D9D9D9"/>
                </a:solidFill>
                <a:latin typeface="Arial" panose="020B0604020202020204" pitchFamily="34" charset="0"/>
              </a:rPr>
              <a:t>Auditable actions, synthetic outcomes, and evidence boundaries</a:t>
            </a:r>
            <a:endParaRPr lang="en-IN" sz="1800">
              <a:solidFill>
                <a:srgbClr val="D9D9D9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B973C-B01A-61C9-84DA-96AB3267CBBB}"/>
              </a:ext>
            </a:extLst>
          </p:cNvPr>
          <p:cNvSpPr txBox="1"/>
          <p:nvPr/>
        </p:nvSpPr>
        <p:spPr>
          <a:xfrm>
            <a:off x="762000" y="4508500"/>
            <a:ext cx="7874000" cy="389850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1700" b="1">
                <a:solidFill>
                  <a:srgbClr val="FFFFFF"/>
                </a:solidFill>
                <a:latin typeface="Arial" panose="020B0604020202020204" pitchFamily="34" charset="0"/>
              </a:rPr>
              <a:t>Dhruva N  |  PES University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3A2DA6-E93E-AECF-803B-E1A2A25AB5CB}"/>
              </a:ext>
            </a:extLst>
          </p:cNvPr>
          <p:cNvSpPr txBox="1"/>
          <p:nvPr/>
        </p:nvSpPr>
        <p:spPr>
          <a:xfrm>
            <a:off x="762000" y="5067300"/>
            <a:ext cx="8890000" cy="328295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300">
                <a:solidFill>
                  <a:srgbClr val="D9D9D9"/>
                </a:solidFill>
                <a:latin typeface="Arial" panose="020B0604020202020204" pitchFamily="34" charset="0"/>
              </a:rPr>
              <a:t>30-minute research presentation  |  Reviewers and mentors</a:t>
            </a:r>
            <a:endParaRPr lang="en-IN" sz="1300">
              <a:solidFill>
                <a:srgbClr val="D9D9D9"/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D3F6D-23B2-110A-DBDA-DD19B7F26F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462" y="4381500"/>
            <a:ext cx="2098074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9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6C0AE1-55DC-A30C-D656-2FD17250001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697BF5-CFC5-FAA2-3DA6-160F50FABEC9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1F3148"/>
                </a:solidFill>
                <a:latin typeface="Arial" panose="020B0604020202020204" pitchFamily="34" charset="0"/>
              </a:rPr>
              <a:t>Why success is not the same as coordination</a:t>
            </a:r>
            <a:endParaRPr lang="en-IN" sz="24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75296D-431A-6598-8BBF-F379DF308444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Outcome-only evaluation hides how the work was done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96448C-16A6-AFAB-AEF5-973490D2C703}"/>
              </a:ext>
            </a:extLst>
          </p:cNvPr>
          <p:cNvSpPr/>
          <p:nvPr/>
        </p:nvSpPr>
        <p:spPr>
          <a:xfrm>
            <a:off x="635000" y="1524000"/>
            <a:ext cx="3454400" cy="260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7E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14BDFB-3C61-AF93-49CC-A67C3B14B015}"/>
              </a:ext>
            </a:extLst>
          </p:cNvPr>
          <p:cNvSpPr/>
          <p:nvPr/>
        </p:nvSpPr>
        <p:spPr>
          <a:xfrm>
            <a:off x="635000" y="1524000"/>
            <a:ext cx="88900" cy="26035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BEF6D-F6EB-D786-971B-868BA28B17FF}"/>
              </a:ext>
            </a:extLst>
          </p:cNvPr>
          <p:cNvSpPr txBox="1"/>
          <p:nvPr/>
        </p:nvSpPr>
        <p:spPr>
          <a:xfrm>
            <a:off x="850900" y="1651000"/>
            <a:ext cx="3048000" cy="359073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1500" b="1">
                <a:solidFill>
                  <a:srgbClr val="1F3148"/>
                </a:solidFill>
                <a:latin typeface="Arial" panose="020B0604020202020204" pitchFamily="34" charset="0"/>
              </a:rPr>
              <a:t>A shared 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0D1B1-5C6A-1EFE-CFBE-B298142AB825}"/>
              </a:ext>
            </a:extLst>
          </p:cNvPr>
          <p:cNvSpPr txBox="1"/>
          <p:nvPr/>
        </p:nvSpPr>
        <p:spPr>
          <a:xfrm>
            <a:off x="850900" y="2057400"/>
            <a:ext cx="3048000" cy="70532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250">
                <a:solidFill>
                  <a:srgbClr val="280F46"/>
                </a:solidFill>
                <a:latin typeface="Arial" panose="020B0604020202020204" pitchFamily="34" charset="0"/>
              </a:rPr>
              <a:t>A group can complete a task while members act independently or repeat work.</a:t>
            </a:r>
            <a:endParaRPr lang="en-IN" sz="1250">
              <a:solidFill>
                <a:srgbClr val="280F46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618A76-2131-AACB-0490-F33800EA9A49}"/>
              </a:ext>
            </a:extLst>
          </p:cNvPr>
          <p:cNvSpPr/>
          <p:nvPr/>
        </p:nvSpPr>
        <p:spPr>
          <a:xfrm>
            <a:off x="4368800" y="1524000"/>
            <a:ext cx="3454400" cy="260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8F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F497FC-0BFE-2658-853D-6D89B80E76EC}"/>
              </a:ext>
            </a:extLst>
          </p:cNvPr>
          <p:cNvSpPr/>
          <p:nvPr/>
        </p:nvSpPr>
        <p:spPr>
          <a:xfrm>
            <a:off x="4368800" y="1524000"/>
            <a:ext cx="88900" cy="2603500"/>
          </a:xfrm>
          <a:prstGeom prst="rect">
            <a:avLst/>
          </a:prstGeom>
          <a:solidFill>
            <a:srgbClr val="D58F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C14AAC-EDEF-0017-75DB-B0D1CEE2AB84}"/>
              </a:ext>
            </a:extLst>
          </p:cNvPr>
          <p:cNvSpPr txBox="1"/>
          <p:nvPr/>
        </p:nvSpPr>
        <p:spPr>
          <a:xfrm>
            <a:off x="4584700" y="1651000"/>
            <a:ext cx="3048000" cy="359073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1500" b="1">
                <a:solidFill>
                  <a:srgbClr val="1F3148"/>
                </a:solidFill>
                <a:latin typeface="Arial" panose="020B0604020202020204" pitchFamily="34" charset="0"/>
              </a:rPr>
              <a:t>A hidden process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2395C4-97F5-CB0E-3F1C-4F01CD8E45F2}"/>
              </a:ext>
            </a:extLst>
          </p:cNvPr>
          <p:cNvSpPr txBox="1"/>
          <p:nvPr/>
        </p:nvSpPr>
        <p:spPr>
          <a:xfrm>
            <a:off x="4584700" y="2057400"/>
            <a:ext cx="3048000" cy="70532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250">
                <a:solidFill>
                  <a:srgbClr val="280F46"/>
                </a:solidFill>
                <a:latin typeface="Arial" panose="020B0604020202020204" pitchFamily="34" charset="0"/>
              </a:rPr>
              <a:t>Success alone does not show which actions changed state or who contributed.</a:t>
            </a:r>
            <a:endParaRPr lang="en-IN" sz="1250">
              <a:solidFill>
                <a:srgbClr val="280F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8B550D-AB35-F096-87B5-4DE115837B28}"/>
              </a:ext>
            </a:extLst>
          </p:cNvPr>
          <p:cNvSpPr/>
          <p:nvPr/>
        </p:nvSpPr>
        <p:spPr>
          <a:xfrm>
            <a:off x="8102600" y="1524000"/>
            <a:ext cx="3454400" cy="260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8FC28A-24FE-4EF2-6CB0-09753A8FAEF5}"/>
              </a:ext>
            </a:extLst>
          </p:cNvPr>
          <p:cNvSpPr/>
          <p:nvPr/>
        </p:nvSpPr>
        <p:spPr>
          <a:xfrm>
            <a:off x="8102600" y="1524000"/>
            <a:ext cx="88900" cy="2603500"/>
          </a:xfrm>
          <a:prstGeom prst="rect">
            <a:avLst/>
          </a:prstGeom>
          <a:solidFill>
            <a:srgbClr val="BF4B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5629E7-07B9-44B0-5D1A-0481CEA41D48}"/>
              </a:ext>
            </a:extLst>
          </p:cNvPr>
          <p:cNvSpPr txBox="1"/>
          <p:nvPr/>
        </p:nvSpPr>
        <p:spPr>
          <a:xfrm>
            <a:off x="8318500" y="1651000"/>
            <a:ext cx="3048000" cy="359073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1500" b="1">
                <a:solidFill>
                  <a:srgbClr val="1F3148"/>
                </a:solidFill>
                <a:latin typeface="Arial" panose="020B0604020202020204" pitchFamily="34" charset="0"/>
              </a:rPr>
              <a:t>A bounded signal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322A70-BD85-ED29-5FAF-3BEE88633C18}"/>
              </a:ext>
            </a:extLst>
          </p:cNvPr>
          <p:cNvSpPr txBox="1"/>
          <p:nvPr/>
        </p:nvSpPr>
        <p:spPr>
          <a:xfrm>
            <a:off x="8318500" y="2057400"/>
            <a:ext cx="3048000" cy="51296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250">
                <a:solidFill>
                  <a:srgbClr val="280F46"/>
                </a:solidFill>
                <a:latin typeface="Arial" panose="020B0604020202020204" pitchFamily="34" charset="0"/>
              </a:rPr>
              <a:t>Action traces expose behavior, but do not automatically establish emergence.</a:t>
            </a:r>
            <a:endParaRPr lang="en-IN" sz="1250">
              <a:solidFill>
                <a:srgbClr val="280F46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65CF66-16BF-CF98-19E5-9EBA54FBA870}"/>
              </a:ext>
            </a:extLst>
          </p:cNvPr>
          <p:cNvSpPr txBox="1"/>
          <p:nvPr/>
        </p:nvSpPr>
        <p:spPr>
          <a:xfrm>
            <a:off x="952500" y="4572000"/>
            <a:ext cx="10287000" cy="37446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ctr"/>
            <a:r>
              <a:rPr lang="en-US" sz="1600" b="1">
                <a:solidFill>
                  <a:srgbClr val="1F3148"/>
                </a:solidFill>
                <a:latin typeface="Arial" panose="020B0604020202020204" pitchFamily="34" charset="0"/>
              </a:rPr>
              <a:t>Study lens: actions + shared state + stopping outcome, interpreted within the evidence boundary.</a:t>
            </a:r>
            <a:endParaRPr lang="en-IN" sz="16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61AF57-9CA5-F6BD-8102-0B17E7C35704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02</a:t>
            </a:r>
          </a:p>
        </p:txBody>
      </p:sp>
    </p:spTree>
    <p:extLst>
      <p:ext uri="{BB962C8B-B14F-4D97-AF65-F5344CB8AC3E}">
        <p14:creationId xmlns:p14="http://schemas.microsoft.com/office/powerpoint/2010/main" val="1027745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93A5AF-67D5-EA29-FF46-3FD8B5B4294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D508C0-A90B-0239-B4D6-4DE7A358E34A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2400" b="1">
                <a:solidFill>
                  <a:srgbClr val="1F3148"/>
                </a:solidFill>
                <a:latin typeface="Arial" panose="020B0604020202020204" pitchFamily="34" charset="0"/>
              </a:rPr>
              <a:t>Two phases, different experimental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E35ABA-020B-82B9-9341-1BDD05365011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The tool-use study is an extension, not a direct replication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0E40C7-9384-0DBB-2903-B8FE5BF40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382" y="1054100"/>
            <a:ext cx="9009236" cy="4826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0B41AF-CC33-259F-A7F3-742B4C6B7E72}"/>
              </a:ext>
            </a:extLst>
          </p:cNvPr>
          <p:cNvSpPr/>
          <p:nvPr/>
        </p:nvSpPr>
        <p:spPr>
          <a:xfrm>
            <a:off x="825500" y="6121400"/>
            <a:ext cx="10541000" cy="355600"/>
          </a:xfrm>
          <a:prstGeom prst="roundRect">
            <a:avLst/>
          </a:prstGeom>
          <a:solidFill>
            <a:srgbClr val="E2E7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848561-1C3B-DEAC-429F-F1331B2E17C6}"/>
              </a:ext>
            </a:extLst>
          </p:cNvPr>
          <p:cNvSpPr txBox="1"/>
          <p:nvPr/>
        </p:nvSpPr>
        <p:spPr>
          <a:xfrm>
            <a:off x="914400" y="6134100"/>
            <a:ext cx="10363200" cy="289823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ctr"/>
            <a:r>
              <a:rPr lang="en-US" sz="1050" b="1">
                <a:solidFill>
                  <a:srgbClr val="1F3148"/>
                </a:solidFill>
                <a:latin typeface="Arial" panose="020B0604020202020204" pitchFamily="34" charset="0"/>
              </a:rPr>
              <a:t>Earlier guessing-game and later tool-use outcomes are not directly comparable.</a:t>
            </a:r>
            <a:endParaRPr lang="en-IN" sz="105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7CD5B-1871-8A0B-93BF-28A46F60520F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03</a:t>
            </a:r>
          </a:p>
        </p:txBody>
      </p:sp>
    </p:spTree>
    <p:extLst>
      <p:ext uri="{BB962C8B-B14F-4D97-AF65-F5344CB8AC3E}">
        <p14:creationId xmlns:p14="http://schemas.microsoft.com/office/powerpoint/2010/main" val="2489099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E677A7-D2C8-015B-141F-0CEECF836F6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FBF604-BD14-9A75-0DCC-08BE4CECA771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2400" b="1">
                <a:solidFill>
                  <a:srgbClr val="1F3148"/>
                </a:solidFill>
                <a:latin typeface="Arial" panose="020B0604020202020204" pitchFamily="34" charset="0"/>
              </a:rPr>
              <a:t>Three descriptive research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23C21-22D5-AAE5-F288-D69FB72A661B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Matched assignments organize comparisons; they do not remove all design limits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9822CE-4338-672D-872D-BE002C470EF8}"/>
              </a:ext>
            </a:extLst>
          </p:cNvPr>
          <p:cNvSpPr/>
          <p:nvPr/>
        </p:nvSpPr>
        <p:spPr>
          <a:xfrm>
            <a:off x="635000" y="1524000"/>
            <a:ext cx="3454400" cy="260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7E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BBB8C9-F401-C576-2CB8-4E8739DE3C44}"/>
              </a:ext>
            </a:extLst>
          </p:cNvPr>
          <p:cNvSpPr/>
          <p:nvPr/>
        </p:nvSpPr>
        <p:spPr>
          <a:xfrm>
            <a:off x="635000" y="1524000"/>
            <a:ext cx="88900" cy="26035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77F422-CBDA-6127-EE09-B632B0FC6CB6}"/>
              </a:ext>
            </a:extLst>
          </p:cNvPr>
          <p:cNvSpPr txBox="1"/>
          <p:nvPr/>
        </p:nvSpPr>
        <p:spPr>
          <a:xfrm>
            <a:off x="850900" y="1651000"/>
            <a:ext cx="3048000" cy="359073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1500" b="1">
                <a:solidFill>
                  <a:srgbClr val="1F3148"/>
                </a:solidFill>
                <a:latin typeface="Arial" panose="020B0604020202020204" pitchFamily="34" charset="0"/>
              </a:rPr>
              <a:t>01  Outcomes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638B8-E801-F276-B5AC-DD67021FE3FB}"/>
              </a:ext>
            </a:extLst>
          </p:cNvPr>
          <p:cNvSpPr txBox="1"/>
          <p:nvPr/>
        </p:nvSpPr>
        <p:spPr>
          <a:xfrm>
            <a:off x="850900" y="2057400"/>
            <a:ext cx="3048000" cy="51296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250">
                <a:solidFill>
                  <a:srgbClr val="280F46"/>
                </a:solidFill>
                <a:latin typeface="Arial" panose="020B0604020202020204" pitchFamily="34" charset="0"/>
              </a:rPr>
              <a:t>How do success, partial, and failure counts differ across matched policies?</a:t>
            </a:r>
            <a:endParaRPr lang="en-IN" sz="1250">
              <a:solidFill>
                <a:srgbClr val="280F46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1CCC76-320F-B5B3-46EF-56BAAD3F5EFA}"/>
              </a:ext>
            </a:extLst>
          </p:cNvPr>
          <p:cNvSpPr/>
          <p:nvPr/>
        </p:nvSpPr>
        <p:spPr>
          <a:xfrm>
            <a:off x="4368800" y="1524000"/>
            <a:ext cx="3454400" cy="260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8F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88D367-4C31-C021-E1F1-90DD501A2DA8}"/>
              </a:ext>
            </a:extLst>
          </p:cNvPr>
          <p:cNvSpPr/>
          <p:nvPr/>
        </p:nvSpPr>
        <p:spPr>
          <a:xfrm>
            <a:off x="4368800" y="1524000"/>
            <a:ext cx="88900" cy="2603500"/>
          </a:xfrm>
          <a:prstGeom prst="rect">
            <a:avLst/>
          </a:prstGeom>
          <a:solidFill>
            <a:srgbClr val="D58F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50FA6F-7362-97D0-193B-910656ACE36D}"/>
              </a:ext>
            </a:extLst>
          </p:cNvPr>
          <p:cNvSpPr txBox="1"/>
          <p:nvPr/>
        </p:nvSpPr>
        <p:spPr>
          <a:xfrm>
            <a:off x="4584700" y="1651000"/>
            <a:ext cx="3048000" cy="359073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1500" b="1">
                <a:solidFill>
                  <a:srgbClr val="1F3148"/>
                </a:solidFill>
                <a:latin typeface="Arial" panose="020B0604020202020204" pitchFamily="34" charset="0"/>
              </a:rPr>
              <a:t>02  Behavior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D50FA6-7A29-0FD0-1C4D-20EC2D2B814E}"/>
              </a:ext>
            </a:extLst>
          </p:cNvPr>
          <p:cNvSpPr txBox="1"/>
          <p:nvPr/>
        </p:nvSpPr>
        <p:spPr>
          <a:xfrm>
            <a:off x="4584700" y="2057400"/>
            <a:ext cx="3048000" cy="51296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250">
                <a:solidFill>
                  <a:srgbClr val="280F46"/>
                </a:solidFill>
                <a:latin typeface="Arial" panose="020B0604020202020204" pitchFamily="34" charset="0"/>
              </a:rPr>
              <a:t>How do action volume, tool mix, and nominal actor participation differ?</a:t>
            </a:r>
            <a:endParaRPr lang="en-IN" sz="1250">
              <a:solidFill>
                <a:srgbClr val="280F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749DB5-8A7E-73D0-8829-98B6AE361C6E}"/>
              </a:ext>
            </a:extLst>
          </p:cNvPr>
          <p:cNvSpPr/>
          <p:nvPr/>
        </p:nvSpPr>
        <p:spPr>
          <a:xfrm>
            <a:off x="8102600" y="1524000"/>
            <a:ext cx="3454400" cy="260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40347E-75BF-D1D8-7ACD-5076A753CB41}"/>
              </a:ext>
            </a:extLst>
          </p:cNvPr>
          <p:cNvSpPr/>
          <p:nvPr/>
        </p:nvSpPr>
        <p:spPr>
          <a:xfrm>
            <a:off x="8102600" y="1524000"/>
            <a:ext cx="88900" cy="2603500"/>
          </a:xfrm>
          <a:prstGeom prst="rect">
            <a:avLst/>
          </a:prstGeom>
          <a:solidFill>
            <a:srgbClr val="BF4B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1CDEFD-5C2D-4F0E-088E-8C078C1BC722}"/>
              </a:ext>
            </a:extLst>
          </p:cNvPr>
          <p:cNvSpPr txBox="1"/>
          <p:nvPr/>
        </p:nvSpPr>
        <p:spPr>
          <a:xfrm>
            <a:off x="8318500" y="1651000"/>
            <a:ext cx="3048000" cy="359073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1500" b="1">
                <a:solidFill>
                  <a:srgbClr val="1F3148"/>
                </a:solidFill>
                <a:latin typeface="Arial" panose="020B0604020202020204" pitchFamily="34" charset="0"/>
              </a:rPr>
              <a:t>03  Stopping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AF0A2B-A912-8638-C7E0-E876C534AA02}"/>
              </a:ext>
            </a:extLst>
          </p:cNvPr>
          <p:cNvSpPr txBox="1"/>
          <p:nvPr/>
        </p:nvSpPr>
        <p:spPr>
          <a:xfrm>
            <a:off x="8318500" y="2057400"/>
            <a:ext cx="3048000" cy="51296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250">
                <a:solidFill>
                  <a:srgbClr val="280F46"/>
                </a:solidFill>
                <a:latin typeface="Arial" panose="020B0604020202020204" pitchFamily="34" charset="0"/>
              </a:rPr>
              <a:t>When do episodes finalize with required work still unresolved?</a:t>
            </a:r>
            <a:endParaRPr lang="en-IN" sz="1250">
              <a:solidFill>
                <a:srgbClr val="280F46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E1A38F-C7A7-F802-3744-1123A5310529}"/>
              </a:ext>
            </a:extLst>
          </p:cNvPr>
          <p:cNvSpPr txBox="1"/>
          <p:nvPr/>
        </p:nvSpPr>
        <p:spPr>
          <a:xfrm>
            <a:off x="952500" y="4572000"/>
            <a:ext cx="10287000" cy="37446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ctr"/>
            <a:r>
              <a:rPr lang="en-US" sz="1600" b="1">
                <a:solidFill>
                  <a:srgbClr val="1F3148"/>
                </a:solidFill>
                <a:latin typeface="Arial" panose="020B0604020202020204" pitchFamily="34" charset="0"/>
              </a:rPr>
              <a:t>Contribution: auditable action-to-outcome traces in a controlled synthetic environment.</a:t>
            </a:r>
            <a:endParaRPr lang="en-IN" sz="16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1456F2-5396-8B0C-2DB9-4D8F1DECF3C9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04</a:t>
            </a:r>
          </a:p>
        </p:txBody>
      </p:sp>
    </p:spTree>
    <p:extLst>
      <p:ext uri="{BB962C8B-B14F-4D97-AF65-F5344CB8AC3E}">
        <p14:creationId xmlns:p14="http://schemas.microsoft.com/office/powerpoint/2010/main" val="462583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C1FCF6-003B-B9C6-79EF-DBEB1FD2E60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ECBFA1-27D5-FED4-0A05-B17C20119230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2400" b="1">
                <a:solidFill>
                  <a:srgbClr val="1F3148"/>
                </a:solidFill>
                <a:latin typeface="Arial" panose="020B0604020202020204" pitchFamily="34" charset="0"/>
              </a:rPr>
              <a:t>Final-run experimental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4B56B-BD91-9F5E-38B4-04B87BB16552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Same fixture, repetition, and seed identities across all three policies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B22CD1-7DE4-E646-39E1-6DA8D4F443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12" y="1054100"/>
            <a:ext cx="9957577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2B7E3B-92C2-9688-EB56-77EBA173A1FD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05</a:t>
            </a:r>
          </a:p>
        </p:txBody>
      </p:sp>
    </p:spTree>
    <p:extLst>
      <p:ext uri="{BB962C8B-B14F-4D97-AF65-F5344CB8AC3E}">
        <p14:creationId xmlns:p14="http://schemas.microsoft.com/office/powerpoint/2010/main" val="75070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B017E0-343C-5A49-8D85-A8EBA505014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1E42A-07F5-7EA3-53DA-17F569CA1D0C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1F3148"/>
                </a:solidFill>
                <a:latin typeface="Arial" panose="020B0604020202020204" pitchFamily="34" charset="0"/>
              </a:rPr>
              <a:t>What differs between the model-backed policies?</a:t>
            </a:r>
            <a:endParaRPr lang="en-IN" sz="24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00926-7B60-070B-7CF9-DCABC81ED083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Nominal actors are roles in one shared sequential action process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0D600D-593F-55E3-2983-121ED9530F5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12" y="1054100"/>
            <a:ext cx="9957577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519AA1-0357-2259-A1C3-32CCE3B12F1D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06</a:t>
            </a:r>
          </a:p>
        </p:txBody>
      </p:sp>
    </p:spTree>
    <p:extLst>
      <p:ext uri="{BB962C8B-B14F-4D97-AF65-F5344CB8AC3E}">
        <p14:creationId xmlns:p14="http://schemas.microsoft.com/office/powerpoint/2010/main" val="1642555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ECBD02-999F-C876-99E9-F4865894CD5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B1170-2C94-8258-9BF3-0ADD707042CA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1F3148"/>
                </a:solidFill>
                <a:latin typeface="Arial" panose="020B0604020202020204" pitchFamily="34" charset="0"/>
              </a:rPr>
              <a:t>Phase 2 architecture and artifact flow</a:t>
            </a:r>
            <a:endParaRPr lang="en-IN" sz="24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A8849-8EB1-7944-2934-EB72DF3225C7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One action per decision over a shared synthetic environment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EBE992-0F02-8BF7-786C-0030C4AA6F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396" y="1054100"/>
            <a:ext cx="8995207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22E2D4-A81D-904F-2C14-75866A195744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07</a:t>
            </a:r>
          </a:p>
        </p:txBody>
      </p:sp>
    </p:spTree>
    <p:extLst>
      <p:ext uri="{BB962C8B-B14F-4D97-AF65-F5344CB8AC3E}">
        <p14:creationId xmlns:p14="http://schemas.microsoft.com/office/powerpoint/2010/main" val="1681499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FAE42C-77A1-A35C-CE51-EA786DC3726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2D9C89-8AA0-A9A5-E3C6-1D17DB2B6B8B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1F3148"/>
                </a:solidFill>
                <a:latin typeface="Arial" panose="020B0604020202020204" pitchFamily="34" charset="0"/>
              </a:rPr>
              <a:t>Action selection, validation, and retry boundaries</a:t>
            </a:r>
            <a:endParaRPr lang="en-IN" sz="24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C1B21-7E78-6646-2B01-BB9D2402E62E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Model-response validity and environment-call validity are separate stages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7411A0-6FBD-E29E-B9A1-5903C00E3F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396" y="1054100"/>
            <a:ext cx="8995207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F8AEE9-ACC0-1FFD-6753-7CEE9E0D57AC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08</a:t>
            </a:r>
          </a:p>
        </p:txBody>
      </p:sp>
    </p:spTree>
    <p:extLst>
      <p:ext uri="{BB962C8B-B14F-4D97-AF65-F5344CB8AC3E}">
        <p14:creationId xmlns:p14="http://schemas.microsoft.com/office/powerpoint/2010/main" val="398695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BB3DD7-9DC1-F3FF-757D-69EBDE0CE68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D8E71-AA1B-2B88-26AA-F86DEFC3AEB2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2400" b="1">
                <a:solidFill>
                  <a:srgbClr val="1F3148"/>
                </a:solidFill>
                <a:latin typeface="Arial" panose="020B0604020202020204" pitchFamily="34" charset="0"/>
              </a:rPr>
              <a:t>Final outcomes: near-ceiling completion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7C8AD-C048-1962-0398-08B175FB12F3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192 completed episodes; 64 final traces per policy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4CAA2-9D28-4B79-7978-0C0CFB651D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959" y="1054100"/>
            <a:ext cx="9338083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EBF96D-C32F-A9EC-B45A-9EFCEA1CE340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09</a:t>
            </a:r>
          </a:p>
        </p:txBody>
      </p:sp>
    </p:spTree>
    <p:extLst>
      <p:ext uri="{BB962C8B-B14F-4D97-AF65-F5344CB8AC3E}">
        <p14:creationId xmlns:p14="http://schemas.microsoft.com/office/powerpoint/2010/main" val="3156359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BBAC0D-E6E8-E541-C6CC-38E745D6AC4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D249A-E9F5-5BC3-BDBF-C4D896B08770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1F3148"/>
                </a:solidFill>
                <a:latin typeface="Arial" panose="020B0604020202020204" pitchFamily="34" charset="0"/>
              </a:rPr>
              <a:t>Matched success-rate differences are small</a:t>
            </a:r>
            <a:endParaRPr lang="en-IN" sz="24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E145F3-B19D-AAF6-A164-B71D5050529F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Reported 95% fixture-cluster bootstrap intervals include zero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FFED1B-FC85-94E1-DA92-0D08BA95DDF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23" y="1054100"/>
            <a:ext cx="9695553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3F5D3C-ECCC-65F0-D444-9A32537164B1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10</a:t>
            </a:r>
          </a:p>
        </p:txBody>
      </p:sp>
    </p:spTree>
    <p:extLst>
      <p:ext uri="{BB962C8B-B14F-4D97-AF65-F5344CB8AC3E}">
        <p14:creationId xmlns:p14="http://schemas.microsoft.com/office/powerpoint/2010/main" val="1569356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18F7C8-3172-B56C-29B2-0ED9A192DC4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65220-0701-3A07-03D5-6540069C7798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1F3148"/>
                </a:solidFill>
                <a:latin typeface="Arial" panose="020B0604020202020204" pitchFamily="34" charset="0"/>
              </a:rPr>
              <a:t>Five partial episodes stopped before the call limit</a:t>
            </a:r>
            <a:endParaRPr lang="en-IN" sz="24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8FFA2-4B54-4555-5BC2-EFA84B2C8EBB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Every partial occurred in billing with required work unresolved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A1761E-27E2-4DAC-033F-C10621925C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25" y="1054100"/>
            <a:ext cx="9820951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CCA4EF-8B67-E9A6-DC7A-1660E2476439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11</a:t>
            </a:r>
          </a:p>
        </p:txBody>
      </p:sp>
    </p:spTree>
    <p:extLst>
      <p:ext uri="{BB962C8B-B14F-4D97-AF65-F5344CB8AC3E}">
        <p14:creationId xmlns:p14="http://schemas.microsoft.com/office/powerpoint/2010/main" val="2455216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4E5127-A75D-E9D1-38D5-2D5DEA3AF70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56DD75-6D9C-1F51-F92D-FF19CDE884AA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2400" b="1">
                <a:solidFill>
                  <a:srgbClr val="1F3148"/>
                </a:solidFill>
                <a:latin typeface="Arial" panose="020B0604020202020204" pitchFamily="34" charset="0"/>
              </a:rPr>
              <a:t>Tool-call volume and composition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08FA3-03D7-423C-DCA5-C23E11587084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Final persisted traces; failed-attempt work is excluded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75D6CC-5BE2-E797-1803-F9551263379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131" y="1054100"/>
            <a:ext cx="8877738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81D4DA-7CCB-2D4F-C1BF-0338D50F53FD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12</a:t>
            </a:r>
          </a:p>
        </p:txBody>
      </p:sp>
    </p:spTree>
    <p:extLst>
      <p:ext uri="{BB962C8B-B14F-4D97-AF65-F5344CB8AC3E}">
        <p14:creationId xmlns:p14="http://schemas.microsoft.com/office/powerpoint/2010/main" val="3210421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243E08-607E-20B5-A108-A3F4C7744D5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C0142-1D70-8779-D851-52E33812D812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1F3148"/>
                </a:solidFill>
                <a:latin typeface="Arial" panose="020B0604020202020204" pitchFamily="34" charset="0"/>
              </a:rPr>
              <a:t>Collection reliability is not task performance</a:t>
            </a:r>
            <a:endParaRPr lang="en-IN" sz="24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F8B17C-A7FE-B614-E0F5-E2DDE269EFC3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Response retries and whole-episode retries use different units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1AF699-D745-DE14-4E0E-6E013F4FFF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782" y="1054100"/>
            <a:ext cx="9130436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64103B-A332-360C-D892-F1BAE18C2502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13</a:t>
            </a:r>
          </a:p>
        </p:txBody>
      </p:sp>
    </p:spTree>
    <p:extLst>
      <p:ext uri="{BB962C8B-B14F-4D97-AF65-F5344CB8AC3E}">
        <p14:creationId xmlns:p14="http://schemas.microsoft.com/office/powerpoint/2010/main" val="2635933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EA900C-5B1E-4459-7EFB-84E60D01761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2DF9B9-5603-D07E-A8A4-A7DF24930DD4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2400" b="1">
                <a:solidFill>
                  <a:srgbClr val="1F3148"/>
                </a:solidFill>
                <a:latin typeface="Arial" panose="020B0604020202020204" pitchFamily="34" charset="0"/>
              </a:rPr>
              <a:t>Action-profile mutual information is exploratory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18E51-2EC5-3D26-A333-22AABD72A890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Small estimates, sparse outcomes, and priority-compressed categories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F01D1A-850E-A710-7A7F-BDF0FDED8CD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41" y="1054100"/>
            <a:ext cx="9930717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F3417A-AF9B-A6F5-FBAB-2B8DF98F1F0D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14</a:t>
            </a:r>
          </a:p>
        </p:txBody>
      </p:sp>
    </p:spTree>
    <p:extLst>
      <p:ext uri="{BB962C8B-B14F-4D97-AF65-F5344CB8AC3E}">
        <p14:creationId xmlns:p14="http://schemas.microsoft.com/office/powerpoint/2010/main" val="1731075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27E684-9D8C-F2F8-C611-B4C57605B91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B926F-481C-B4AD-626F-EE8183F47DA6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1F3148"/>
                </a:solidFill>
                <a:latin typeface="Arial" panose="020B0604020202020204" pitchFamily="34" charset="0"/>
              </a:rPr>
              <a:t>What drives the joint-profile estimates?</a:t>
            </a:r>
            <a:endParaRPr lang="en-IN" sz="24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30DD0-09B5-D419-EE44-1407CB289901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Every observed profile contains a finalized category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417D2-326D-DD9B-AB59-60EE1D5EC18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327" y="1054100"/>
            <a:ext cx="9157346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1D318B-5FAB-B7D5-391C-D2E3484F9741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15</a:t>
            </a:r>
          </a:p>
        </p:txBody>
      </p:sp>
    </p:spTree>
    <p:extLst>
      <p:ext uri="{BB962C8B-B14F-4D97-AF65-F5344CB8AC3E}">
        <p14:creationId xmlns:p14="http://schemas.microsoft.com/office/powerpoint/2010/main" val="2463086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F8B0EC-EE79-454D-DA03-241FCD7FB9F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D1A627-7FEA-F0CD-3EB7-29954A71A46C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1F3148"/>
                </a:solidFill>
                <a:latin typeface="Arial" panose="020B0604020202020204" pitchFamily="34" charset="0"/>
              </a:rPr>
              <a:t>Actor participation and tool mix</a:t>
            </a:r>
            <a:endParaRPr lang="en-IN" sz="24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E40BC-4C33-DF08-EC68-222AE9DD7B7D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Assignment rules differ; imbalance is not emergent specialization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F432E0-839F-604F-DD5F-D0B5C422FA0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390" y="1054100"/>
            <a:ext cx="8153220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B200A3-CB85-82C0-2EB8-264408811908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16</a:t>
            </a:r>
          </a:p>
        </p:txBody>
      </p:sp>
    </p:spTree>
    <p:extLst>
      <p:ext uri="{BB962C8B-B14F-4D97-AF65-F5344CB8AC3E}">
        <p14:creationId xmlns:p14="http://schemas.microsoft.com/office/powerpoint/2010/main" val="607285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432F85-4494-EE16-C4A7-DECF3E23E32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DDDA5-89BF-6F0C-6D91-462DB290737E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1F3148"/>
                </a:solidFill>
                <a:latin typeface="Arial" panose="020B0604020202020204" pitchFamily="34" charset="0"/>
              </a:rPr>
              <a:t>Partial outcomes were concentrated in billing</a:t>
            </a:r>
            <a:endParaRPr lang="en-IN" sz="24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468A0-D296-678E-10CD-7AC4A7FC2379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Every non-billing family had full success in this saved run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5B2EE-980F-FA45-C698-A56D54FE05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165" y="1054100"/>
            <a:ext cx="9407671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A81202-AC4C-BF6A-F652-C97C813526E9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17</a:t>
            </a:r>
          </a:p>
        </p:txBody>
      </p:sp>
    </p:spTree>
    <p:extLst>
      <p:ext uri="{BB962C8B-B14F-4D97-AF65-F5344CB8AC3E}">
        <p14:creationId xmlns:p14="http://schemas.microsoft.com/office/powerpoint/2010/main" val="4083084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3827E8-85E2-1F17-DF4E-D6585227D4A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EFE040-8208-2AC3-E11F-E03ECA3B6175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2400" b="1">
                <a:solidFill>
                  <a:srgbClr val="1F3148"/>
                </a:solidFill>
                <a:latin typeface="Arial" panose="020B0604020202020204" pitchFamily="34" charset="0"/>
              </a:rPr>
              <a:t>What the evidence supports - and does not</a:t>
            </a:r>
            <a:endParaRPr lang="en-IN" sz="24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236CF-D262-FA5A-4262-9A2DDC91E621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Interpret results within task, model, and action-interface boundaries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AA5506-28B1-2B77-F4BE-8ECBDBB860EA}"/>
              </a:ext>
            </a:extLst>
          </p:cNvPr>
          <p:cNvSpPr/>
          <p:nvPr/>
        </p:nvSpPr>
        <p:spPr>
          <a:xfrm>
            <a:off x="635000" y="1524000"/>
            <a:ext cx="3454400" cy="260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7E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C525D3-7A07-A53F-EAE9-A81D3D38F6F3}"/>
              </a:ext>
            </a:extLst>
          </p:cNvPr>
          <p:cNvSpPr/>
          <p:nvPr/>
        </p:nvSpPr>
        <p:spPr>
          <a:xfrm>
            <a:off x="635000" y="1524000"/>
            <a:ext cx="88900" cy="26035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551F9-F83F-E447-9689-3C2DB0DD4248}"/>
              </a:ext>
            </a:extLst>
          </p:cNvPr>
          <p:cNvSpPr txBox="1"/>
          <p:nvPr/>
        </p:nvSpPr>
        <p:spPr>
          <a:xfrm>
            <a:off x="850900" y="1651000"/>
            <a:ext cx="3048000" cy="359073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1500" b="1">
                <a:solidFill>
                  <a:srgbClr val="1F3148"/>
                </a:solidFill>
                <a:latin typeface="Arial" panose="020B0604020202020204" pitchFamily="34" charset="0"/>
              </a:rPr>
              <a:t>Supports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E4FD1-C007-FB89-2656-8E1A7727DABA}"/>
              </a:ext>
            </a:extLst>
          </p:cNvPr>
          <p:cNvSpPr txBox="1"/>
          <p:nvPr/>
        </p:nvSpPr>
        <p:spPr>
          <a:xfrm>
            <a:off x="850900" y="2057400"/>
            <a:ext cx="3048000" cy="51296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250">
                <a:solidFill>
                  <a:srgbClr val="280F46"/>
                </a:solidFill>
                <a:latin typeface="Arial" panose="020B0604020202020204" pitchFamily="34" charset="0"/>
              </a:rPr>
              <a:t>Auditable traces; descriptive outcomes; a concrete early-finalization pattern.</a:t>
            </a:r>
            <a:endParaRPr lang="en-IN" sz="1250">
              <a:solidFill>
                <a:srgbClr val="280F46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0E0F2E-E387-D7F4-865D-E50F970833A5}"/>
              </a:ext>
            </a:extLst>
          </p:cNvPr>
          <p:cNvSpPr/>
          <p:nvPr/>
        </p:nvSpPr>
        <p:spPr>
          <a:xfrm>
            <a:off x="4368800" y="1524000"/>
            <a:ext cx="3454400" cy="260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8F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3BD0E1-DFBE-0076-AF9C-165A672D39EB}"/>
              </a:ext>
            </a:extLst>
          </p:cNvPr>
          <p:cNvSpPr/>
          <p:nvPr/>
        </p:nvSpPr>
        <p:spPr>
          <a:xfrm>
            <a:off x="4368800" y="1524000"/>
            <a:ext cx="88900" cy="2603500"/>
          </a:xfrm>
          <a:prstGeom prst="rect">
            <a:avLst/>
          </a:prstGeom>
          <a:solidFill>
            <a:srgbClr val="D58F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D3170F-9826-92ED-0BBF-AA9EB16493CE}"/>
              </a:ext>
            </a:extLst>
          </p:cNvPr>
          <p:cNvSpPr txBox="1"/>
          <p:nvPr/>
        </p:nvSpPr>
        <p:spPr>
          <a:xfrm>
            <a:off x="4584700" y="1651000"/>
            <a:ext cx="3048000" cy="359073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1500" b="1">
                <a:solidFill>
                  <a:srgbClr val="1F3148"/>
                </a:solidFill>
                <a:latin typeface="Arial" panose="020B0604020202020204" pitchFamily="34" charset="0"/>
              </a:rPr>
              <a:t>Does not establish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D54AC7-0711-856F-C856-85869E52C150}"/>
              </a:ext>
            </a:extLst>
          </p:cNvPr>
          <p:cNvSpPr txBox="1"/>
          <p:nvPr/>
        </p:nvSpPr>
        <p:spPr>
          <a:xfrm>
            <a:off x="4584700" y="2057400"/>
            <a:ext cx="3048000" cy="51296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250">
                <a:solidFill>
                  <a:srgbClr val="280F46"/>
                </a:solidFill>
                <a:latin typeface="Arial" panose="020B0604020202020204" pitchFamily="34" charset="0"/>
              </a:rPr>
              <a:t>Policy superiority, a prompt-only causal effect, or emergent specialization.</a:t>
            </a:r>
            <a:endParaRPr lang="en-IN" sz="1250">
              <a:solidFill>
                <a:srgbClr val="280F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0794B5-0A8B-DB97-C5F2-209F565E72B9}"/>
              </a:ext>
            </a:extLst>
          </p:cNvPr>
          <p:cNvSpPr/>
          <p:nvPr/>
        </p:nvSpPr>
        <p:spPr>
          <a:xfrm>
            <a:off x="8102600" y="1524000"/>
            <a:ext cx="3454400" cy="260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E3C967-EC48-9777-82E0-AD8E18EC7275}"/>
              </a:ext>
            </a:extLst>
          </p:cNvPr>
          <p:cNvSpPr/>
          <p:nvPr/>
        </p:nvSpPr>
        <p:spPr>
          <a:xfrm>
            <a:off x="8102600" y="1524000"/>
            <a:ext cx="88900" cy="2603500"/>
          </a:xfrm>
          <a:prstGeom prst="rect">
            <a:avLst/>
          </a:prstGeom>
          <a:solidFill>
            <a:srgbClr val="BF4B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EFD5C1-B0D7-61B2-100F-48E896B9B5C2}"/>
              </a:ext>
            </a:extLst>
          </p:cNvPr>
          <p:cNvSpPr txBox="1"/>
          <p:nvPr/>
        </p:nvSpPr>
        <p:spPr>
          <a:xfrm>
            <a:off x="8318500" y="1651000"/>
            <a:ext cx="3048000" cy="359073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1500" b="1">
                <a:solidFill>
                  <a:srgbClr val="1F3148"/>
                </a:solidFill>
                <a:latin typeface="Arial" panose="020B0604020202020204" pitchFamily="34" charset="0"/>
              </a:rPr>
              <a:t>Important limits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7D857B-FA4E-EB8C-F90D-424E33BD79E1}"/>
              </a:ext>
            </a:extLst>
          </p:cNvPr>
          <p:cNvSpPr txBox="1"/>
          <p:nvPr/>
        </p:nvSpPr>
        <p:spPr>
          <a:xfrm>
            <a:off x="8318500" y="2057400"/>
            <a:ext cx="3048000" cy="70532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250">
                <a:solidFill>
                  <a:srgbClr val="280F46"/>
                </a:solidFill>
                <a:latin typeface="Arial" panose="020B0604020202020204" pitchFamily="34" charset="0"/>
              </a:rPr>
              <a:t>One model/provider; synthetic fixtures; supplied patches; tests do not execute code.</a:t>
            </a:r>
            <a:endParaRPr lang="en-IN" sz="1250">
              <a:solidFill>
                <a:srgbClr val="280F46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3C8BF-B4D8-05B1-C04A-FC70FFBA5180}"/>
              </a:ext>
            </a:extLst>
          </p:cNvPr>
          <p:cNvSpPr txBox="1"/>
          <p:nvPr/>
        </p:nvSpPr>
        <p:spPr>
          <a:xfrm>
            <a:off x="952500" y="4572000"/>
            <a:ext cx="10287000" cy="37446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ctr"/>
            <a:r>
              <a:rPr lang="en-US" sz="1600" b="1">
                <a:solidFill>
                  <a:srgbClr val="1F3148"/>
                </a:solidFill>
                <a:latin typeface="Arial" panose="020B0604020202020204" pitchFamily="34" charset="0"/>
              </a:rPr>
              <a:t>The MI statistic is not the motivating paper's temporal information decomposition.</a:t>
            </a:r>
            <a:endParaRPr lang="en-IN" sz="16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B48195-AE98-D484-42D1-6C3469DAAB46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18</a:t>
            </a:r>
          </a:p>
        </p:txBody>
      </p:sp>
    </p:spTree>
    <p:extLst>
      <p:ext uri="{BB962C8B-B14F-4D97-AF65-F5344CB8AC3E}">
        <p14:creationId xmlns:p14="http://schemas.microsoft.com/office/powerpoint/2010/main" val="2187261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4FA4C1-BDF1-1D6B-661B-5175C6065B1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FE3F0-77A3-C501-26E4-E4F982269779}"/>
              </a:ext>
            </a:extLst>
          </p:cNvPr>
          <p:cNvSpPr txBox="1"/>
          <p:nvPr/>
        </p:nvSpPr>
        <p:spPr>
          <a:xfrm>
            <a:off x="482600" y="228600"/>
            <a:ext cx="11239500" cy="497572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2400" b="1">
                <a:solidFill>
                  <a:srgbClr val="1F3148"/>
                </a:solidFill>
                <a:latin typeface="Arial" panose="020B0604020202020204" pitchFamily="34" charset="0"/>
              </a:rPr>
              <a:t>Takeaways and next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A11CD-9BE8-3208-02D5-C83876A887B5}"/>
              </a:ext>
            </a:extLst>
          </p:cNvPr>
          <p:cNvSpPr txBox="1"/>
          <p:nvPr/>
        </p:nvSpPr>
        <p:spPr>
          <a:xfrm>
            <a:off x="508000" y="723900"/>
            <a:ext cx="11176000" cy="297517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100">
                <a:solidFill>
                  <a:srgbClr val="7E7E7E"/>
                </a:solidFill>
                <a:latin typeface="Arial" panose="020B0604020202020204" pitchFamily="34" charset="0"/>
              </a:rPr>
              <a:t>Stronger coordination claims need separable interventions and richer evidence</a:t>
            </a:r>
            <a:endParaRPr lang="en-IN" sz="1100">
              <a:solidFill>
                <a:srgbClr val="7E7E7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8B7DB2-6495-0831-B38F-61540D7906EA}"/>
              </a:ext>
            </a:extLst>
          </p:cNvPr>
          <p:cNvSpPr/>
          <p:nvPr/>
        </p:nvSpPr>
        <p:spPr>
          <a:xfrm>
            <a:off x="635000" y="1524000"/>
            <a:ext cx="5321300" cy="260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7E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6A1D0A-9F69-6926-C076-4BA0780836B4}"/>
              </a:ext>
            </a:extLst>
          </p:cNvPr>
          <p:cNvSpPr/>
          <p:nvPr/>
        </p:nvSpPr>
        <p:spPr>
          <a:xfrm>
            <a:off x="635000" y="1524000"/>
            <a:ext cx="88900" cy="2603500"/>
          </a:xfrm>
          <a:prstGeom prst="rect">
            <a:avLst/>
          </a:prstGeom>
          <a:solidFill>
            <a:srgbClr val="1E7E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FB817-69C5-5FD7-91D4-52CC1D7B1798}"/>
              </a:ext>
            </a:extLst>
          </p:cNvPr>
          <p:cNvSpPr txBox="1"/>
          <p:nvPr/>
        </p:nvSpPr>
        <p:spPr>
          <a:xfrm>
            <a:off x="850900" y="1651000"/>
            <a:ext cx="4914900" cy="359073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1500" b="1">
                <a:solidFill>
                  <a:srgbClr val="1F3148"/>
                </a:solidFill>
                <a:latin typeface="Arial" panose="020B0604020202020204" pitchFamily="34" charset="0"/>
              </a:rPr>
              <a:t>What we observed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F47033-A5FC-AE83-8B8C-AE9FFB545A64}"/>
              </a:ext>
            </a:extLst>
          </p:cNvPr>
          <p:cNvSpPr txBox="1"/>
          <p:nvPr/>
        </p:nvSpPr>
        <p:spPr>
          <a:xfrm>
            <a:off x="850900" y="2057400"/>
            <a:ext cx="4914900" cy="51296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250">
                <a:solidFill>
                  <a:srgbClr val="280F46"/>
                </a:solidFill>
                <a:latin typeface="Arial" panose="020B0604020202020204" pitchFamily="34" charset="0"/>
              </a:rPr>
              <a:t>192 final traces; 187 successes; 5 partials; 0 failures. Every partial finalized early in billing.</a:t>
            </a:r>
            <a:endParaRPr lang="en-IN" sz="1250">
              <a:solidFill>
                <a:srgbClr val="280F46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01B439-27E2-60BB-684B-33F248EFF65A}"/>
              </a:ext>
            </a:extLst>
          </p:cNvPr>
          <p:cNvSpPr/>
          <p:nvPr/>
        </p:nvSpPr>
        <p:spPr>
          <a:xfrm>
            <a:off x="6235700" y="1524000"/>
            <a:ext cx="5321300" cy="260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8F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F5828E-0953-5734-195C-7EFCA5A7DEF1}"/>
              </a:ext>
            </a:extLst>
          </p:cNvPr>
          <p:cNvSpPr/>
          <p:nvPr/>
        </p:nvSpPr>
        <p:spPr>
          <a:xfrm>
            <a:off x="6235700" y="1524000"/>
            <a:ext cx="88900" cy="2603500"/>
          </a:xfrm>
          <a:prstGeom prst="rect">
            <a:avLst/>
          </a:prstGeom>
          <a:solidFill>
            <a:srgbClr val="D58F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8F99C2-01C1-8E66-F20F-A736F0C62D5A}"/>
              </a:ext>
            </a:extLst>
          </p:cNvPr>
          <p:cNvSpPr txBox="1"/>
          <p:nvPr/>
        </p:nvSpPr>
        <p:spPr>
          <a:xfrm>
            <a:off x="6451600" y="1651000"/>
            <a:ext cx="4914900" cy="359073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IN" sz="1500" b="1">
                <a:solidFill>
                  <a:srgbClr val="1F3148"/>
                </a:solidFill>
                <a:latin typeface="Arial" panose="020B0604020202020204" pitchFamily="34" charset="0"/>
              </a:rPr>
              <a:t>What to test next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512534-0525-ED3B-E855-D69DA5AB4BB1}"/>
              </a:ext>
            </a:extLst>
          </p:cNvPr>
          <p:cNvSpPr txBox="1"/>
          <p:nvPr/>
        </p:nvSpPr>
        <p:spPr>
          <a:xfrm>
            <a:off x="6451600" y="2057400"/>
            <a:ext cx="4914900" cy="51296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sz="1250">
                <a:solidFill>
                  <a:srgbClr val="280F46"/>
                </a:solidFill>
                <a:latin typeface="Arial" panose="020B0604020202020204" pitchFamily="34" charset="0"/>
              </a:rPr>
              <a:t>Separate wording from actor assignment; preserve action order; broaden validated task difficulty.</a:t>
            </a:r>
            <a:endParaRPr lang="en-IN" sz="1250">
              <a:solidFill>
                <a:srgbClr val="280F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8C9E14-0260-851D-8FE2-A4C61EEB2FF6}"/>
              </a:ext>
            </a:extLst>
          </p:cNvPr>
          <p:cNvSpPr txBox="1"/>
          <p:nvPr/>
        </p:nvSpPr>
        <p:spPr>
          <a:xfrm>
            <a:off x="952500" y="4572000"/>
            <a:ext cx="10287000" cy="37446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ctr"/>
            <a:r>
              <a:rPr lang="en-US" sz="1600" b="1">
                <a:solidFill>
                  <a:srgbClr val="1F3148"/>
                </a:solidFill>
                <a:latin typeface="Arial" panose="020B0604020202020204" pitchFamily="34" charset="0"/>
              </a:rPr>
              <a:t>Bottom line: action traces make behavior inspectable; current results remain descriptive and bounded.</a:t>
            </a:r>
            <a:endParaRPr lang="en-IN" sz="1600" b="1">
              <a:solidFill>
                <a:srgbClr val="1F3148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5F2F66-BE99-6928-06EE-1322C3C0B37A}"/>
              </a:ext>
            </a:extLst>
          </p:cNvPr>
          <p:cNvSpPr txBox="1"/>
          <p:nvPr/>
        </p:nvSpPr>
        <p:spPr>
          <a:xfrm>
            <a:off x="508000" y="6578600"/>
            <a:ext cx="11176000" cy="251351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r"/>
            <a:r>
              <a:rPr lang="en-IN" sz="800">
                <a:solidFill>
                  <a:srgbClr val="7E7E7E"/>
                </a:solidFill>
                <a:latin typeface="Arial" panose="020B0604020202020204" pitchFamily="34" charset="0"/>
              </a:rPr>
              <a:t>EMERGENT COORDINATION  |  19</a:t>
            </a:r>
          </a:p>
        </p:txBody>
      </p:sp>
    </p:spTree>
    <p:extLst>
      <p:ext uri="{BB962C8B-B14F-4D97-AF65-F5344CB8AC3E}">
        <p14:creationId xmlns:p14="http://schemas.microsoft.com/office/powerpoint/2010/main" val="4168321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3B2848-3786-27C4-9601-C6C315D8EBAC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D58F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6F2B2-5A17-9BF4-3954-8A9BF5E7AC5F}"/>
              </a:ext>
            </a:extLst>
          </p:cNvPr>
          <p:cNvSpPr txBox="1"/>
          <p:nvPr/>
        </p:nvSpPr>
        <p:spPr>
          <a:xfrm>
            <a:off x="1143000" y="1968500"/>
            <a:ext cx="9906000" cy="651460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ctr"/>
            <a:r>
              <a:rPr lang="en-IN" sz="3400" b="1">
                <a:solidFill>
                  <a:srgbClr val="FFFFFF"/>
                </a:solidFill>
                <a:latin typeface="Arial" panose="020B0604020202020204" pitchFamily="34" charset="0"/>
              </a:rPr>
              <a:t>Questions and 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C5DC3-9DAA-A475-82CB-94BA537C86B0}"/>
              </a:ext>
            </a:extLst>
          </p:cNvPr>
          <p:cNvSpPr txBox="1"/>
          <p:nvPr/>
        </p:nvSpPr>
        <p:spPr>
          <a:xfrm>
            <a:off x="1587500" y="3365500"/>
            <a:ext cx="9017000" cy="420628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ctr"/>
            <a:r>
              <a:rPr lang="en-US" sz="1900">
                <a:solidFill>
                  <a:srgbClr val="D9D9D9"/>
                </a:solidFill>
                <a:latin typeface="Arial" panose="020B0604020202020204" pitchFamily="34" charset="0"/>
              </a:rPr>
              <a:t>What would distinguish useful coordination from shared task difficulty?</a:t>
            </a:r>
            <a:endParaRPr lang="en-IN" sz="1900">
              <a:solidFill>
                <a:srgbClr val="D9D9D9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7C1DD-ABC2-61EF-C07D-8C9F1A3BC68B}"/>
              </a:ext>
            </a:extLst>
          </p:cNvPr>
          <p:cNvSpPr txBox="1"/>
          <p:nvPr/>
        </p:nvSpPr>
        <p:spPr>
          <a:xfrm>
            <a:off x="1524000" y="5334000"/>
            <a:ext cx="9144000" cy="328295"/>
          </a:xfrm>
          <a:prstGeom prst="rect">
            <a:avLst/>
          </a:prstGeom>
          <a:noFill/>
        </p:spPr>
        <p:txBody>
          <a:bodyPr vert="horz" wrap="square" lIns="127000" tIns="63500" rIns="127000" bIns="63500" rtlCol="0">
            <a:spAutoFit/>
          </a:bodyPr>
          <a:lstStyle/>
          <a:p>
            <a:pPr algn="ctr"/>
            <a:r>
              <a:rPr lang="en-IN" sz="1300">
                <a:solidFill>
                  <a:srgbClr val="D9D9D9"/>
                </a:solidFill>
                <a:latin typeface="Arial" panose="020B0604020202020204" pitchFamily="34" charset="0"/>
              </a:rPr>
              <a:t>25-minute talk  |  5-minute Q&amp;A</a:t>
            </a:r>
          </a:p>
        </p:txBody>
      </p:sp>
    </p:spTree>
    <p:extLst>
      <p:ext uri="{BB962C8B-B14F-4D97-AF65-F5344CB8AC3E}">
        <p14:creationId xmlns:p14="http://schemas.microsoft.com/office/powerpoint/2010/main" val="1338225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Microsoft Office PowerPoint</Application>
  <PresentationFormat>On-screen Show (16:10)</PresentationFormat>
  <Paragraphs>88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Dhruva N</dc:creator>
  <cp:lastModifiedBy>Dhruva N</cp:lastModifiedBy>
  <cp:revision>2</cp:revision>
  <dcterms:created xsi:type="dcterms:W3CDTF">2026-10-20T18:30:08Z</dcterms:created>
  <dcterms:modified xsi:type="dcterms:W3CDTF">2026-10-20T18:32:00Z</dcterms:modified>
</cp:coreProperties>
</file>