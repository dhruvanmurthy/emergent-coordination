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C65465-EC4F-F937-EFF1-3EEA499230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E5285-3593-C271-CB88-5AAF931B20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CB236-9AF4-42D4-AFD0-ED436253BE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2AB13-5404-BC5F-1C73-6BA79D0AA8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593A2-9AE1-7869-7546-25A14CA7C3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98169-0186-469C-8E01-959CC7301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116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544A8-C2BB-4B65-A21E-5512C45662D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ACE10-D07B-4EB0-A372-01E8FFDF6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40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97C1-1B23-56B1-A38A-0A82941C0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89A3C-011F-DD81-A64E-96A8A03D4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5FC3E-2ED8-9B15-76E7-D2886B93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FADB7-D26D-67D4-CC7E-2FA63738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9CC3-25D9-BBFA-CA6E-74FB83B4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5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BED-5151-0380-2114-929A27AC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6E99-3D6A-7CA0-BA4C-46552F5D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BF5-33EE-136C-F977-3264776B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09444-C983-708D-5909-8628CDE9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DB5B0-BCCF-4500-C620-CD38574A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38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7758-E46C-804E-A29A-37984087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DE36B-1651-91CF-5EAF-51C9A064C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77790-EC6D-AC3C-BECC-F426F8E4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0D81-0CC9-5237-F06C-30E9DE7F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D1C4-25E5-DA1D-14FC-A8D10DC8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45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DBD1-389E-2BA9-DADF-069650D7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6BE4-9F0F-8C6C-377E-3830F629C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C7D4B-78A7-866F-594D-37FA05A96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C39F8-CF9E-1268-7C92-CF6BC45D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EDE6-8F2E-17EB-B5AA-C2FD8BD8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66D9F-5D28-B86E-0F37-53718754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42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2E08-74FB-C319-DB73-FC68BE1B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4CF12-C89B-041A-A0FF-789FA7B4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CC8A7-8A12-ADCA-8A47-9FDD45904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3AC78-4873-CC11-A927-3AAEEF4B5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BE4BA-A906-4553-F944-5D47A7B0F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F9D0A-DCA1-741E-69D3-B2B3C325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B00EE-F570-2C05-D88D-20B7CD0F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0E252-B714-A19A-9446-0FA2BAFF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3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7348-8513-4389-9583-D082D39E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0C966-671B-3AE9-D0B6-CF2505AA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08AA9-7C04-16B6-E2B7-6D243CEB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C1330-4EBC-BDFD-F5B6-0A2272E1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7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81EDCF-2C10-F85C-81E9-A5F746FD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2490E02-581C-778A-037F-F37F94DD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C7C73-0342-96AF-0B62-84B550DF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8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8914AC-8E5F-1504-9DC1-6575CD1331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098" y="133170"/>
            <a:ext cx="1329732" cy="60368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B8CC9D-5276-F78B-C47B-C698941DB8F8}"/>
              </a:ext>
            </a:extLst>
          </p:cNvPr>
          <p:cNvCxnSpPr/>
          <p:nvPr userDrawn="1"/>
        </p:nvCxnSpPr>
        <p:spPr>
          <a:xfrm flipH="1">
            <a:off x="0" y="905522"/>
            <a:ext cx="12192000" cy="0"/>
          </a:xfrm>
          <a:prstGeom prst="line">
            <a:avLst/>
          </a:prstGeom>
          <a:ln w="38100">
            <a:solidFill>
              <a:srgbClr val="33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3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5F8-EF14-A393-7F18-126761A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E9AB-2F58-19CC-6240-36390CC51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DEE0B-F955-2BB4-AE53-724C17D70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34BA7-A1F4-CA39-E82B-2D0F6D4F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12221-E7E9-5297-AB09-3202966C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39E78-64A3-D5E7-7503-51E8AD86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67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C4B5-E8C0-F98A-CF91-038C3C38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CDDEA-4BC9-D058-F4D7-E026D2C84B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C6D4F-FD38-31AB-5B39-84840CFAE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90ECA-7E52-F5C4-D90B-6A7A71D6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637F2-0D2D-6974-77FB-F42F60C1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065B-8DAC-0E67-A35B-3E3C623E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1EDB-00B6-9D9E-21F6-8B1ADDE5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D1199-AA73-D94F-6A40-E5A64C856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4214-B7F4-D4E0-2BAF-CF489E9D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D3A8-BEEE-1429-F71E-E0E2D5DE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AD5C-6FC3-BA82-24B4-314467FE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6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DDC0-5247-2311-ADCD-794A99A35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C0351-F147-B72C-82FF-8EE32D9DB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105B-3576-8619-E140-4B4FC963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E312-4822-B4A8-283F-2F568FA2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FAB94-2854-E2CF-31E1-BC65FF63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64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ED282-B73F-0D9B-00AB-E401393F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7BA20-55B7-EB69-1AF6-859307389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A50E0-D30F-CC06-B09E-2B192C9B6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7A9BB-EB85-1F12-2A38-3F6ABA2E2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78D7-6DDB-A27D-EDDE-F6E89A365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7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00F7E6-93BB-6F7F-DAC8-8E7E8B7BF832}"/>
              </a:ext>
            </a:extLst>
          </p:cNvPr>
          <p:cNvSpPr txBox="1"/>
          <p:nvPr/>
        </p:nvSpPr>
        <p:spPr>
          <a:xfrm>
            <a:off x="660399" y="1371600"/>
            <a:ext cx="10931525" cy="140551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sz="4400" b="1" dirty="0">
                <a:solidFill>
                  <a:srgbClr val="0000FF"/>
                </a:solidFill>
                <a:latin typeface="Trebuchet MS" panose="020B0603020202020204" pitchFamily="34" charset="0"/>
              </a:rPr>
              <a:t>Investigating Coordination Signals in Multi-Agent Tool-Using Language Models</a:t>
            </a:r>
            <a:endParaRPr lang="en-IN" sz="4400" b="1" dirty="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37B1C-56A7-CD4C-11C3-76E6B5C7A7BD}"/>
              </a:ext>
            </a:extLst>
          </p:cNvPr>
          <p:cNvSpPr txBox="1"/>
          <p:nvPr/>
        </p:nvSpPr>
        <p:spPr>
          <a:xfrm>
            <a:off x="1649411" y="3241769"/>
            <a:ext cx="89535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Auditable actions, synthetic outcomes, and evidence boundaries</a:t>
            </a:r>
            <a:endParaRPr lang="en-IN" sz="2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72393-5026-DB53-B438-8AB7552375AE}"/>
              </a:ext>
            </a:extLst>
          </p:cNvPr>
          <p:cNvSpPr txBox="1"/>
          <p:nvPr/>
        </p:nvSpPr>
        <p:spPr>
          <a:xfrm>
            <a:off x="1998661" y="5371345"/>
            <a:ext cx="8255000" cy="83708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Dhruva N</a:t>
            </a:r>
            <a:b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</a:b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PES2PGE23DS169</a:t>
            </a:r>
            <a:endParaRPr lang="en-IN" sz="1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5E1B8-F967-F4C1-E3ED-C525C5773BA6}"/>
              </a:ext>
            </a:extLst>
          </p:cNvPr>
          <p:cNvSpPr txBox="1"/>
          <p:nvPr/>
        </p:nvSpPr>
        <p:spPr>
          <a:xfrm>
            <a:off x="1968500" y="4080886"/>
            <a:ext cx="8255000" cy="82580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Under the guidance of</a:t>
            </a:r>
            <a:b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</a:b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Dr. Milan Joshi  |  Faculty - Great Learning</a:t>
            </a:r>
          </a:p>
        </p:txBody>
      </p:sp>
    </p:spTree>
    <p:extLst>
      <p:ext uri="{BB962C8B-B14F-4D97-AF65-F5344CB8AC3E}">
        <p14:creationId xmlns:p14="http://schemas.microsoft.com/office/powerpoint/2010/main" val="316069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697BF5-CFC5-FAA2-3DA6-160F50FABEC9}"/>
              </a:ext>
            </a:extLst>
          </p:cNvPr>
          <p:cNvSpPr txBox="1"/>
          <p:nvPr/>
        </p:nvSpPr>
        <p:spPr>
          <a:xfrm>
            <a:off x="635000" y="1304923"/>
            <a:ext cx="9271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 dirty="0">
                <a:solidFill>
                  <a:srgbClr val="0000FF"/>
                </a:solidFill>
                <a:latin typeface="Trebuchet MS" panose="020B0603020202020204" pitchFamily="34" charset="0"/>
              </a:rPr>
              <a:t>Why success is not the same as coordination</a:t>
            </a:r>
            <a:endParaRPr lang="en-IN" sz="2100" dirty="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5296D-431A-6598-8BBF-F379DF308444}"/>
              </a:ext>
            </a:extLst>
          </p:cNvPr>
          <p:cNvSpPr txBox="1"/>
          <p:nvPr/>
        </p:nvSpPr>
        <p:spPr>
          <a:xfrm>
            <a:off x="635000" y="1889126"/>
            <a:ext cx="1092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Outcome-only evaluation hides how the work was done</a:t>
            </a:r>
            <a:endParaRPr lang="en-IN" sz="1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BEF6D-F6EB-D786-971B-868BA28B17FF}"/>
              </a:ext>
            </a:extLst>
          </p:cNvPr>
          <p:cNvSpPr txBox="1"/>
          <p:nvPr/>
        </p:nvSpPr>
        <p:spPr>
          <a:xfrm>
            <a:off x="889000" y="2727326"/>
            <a:ext cx="31750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A shared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0D1B1-5C6A-1EFE-CFBE-B298142AB825}"/>
              </a:ext>
            </a:extLst>
          </p:cNvPr>
          <p:cNvSpPr txBox="1"/>
          <p:nvPr/>
        </p:nvSpPr>
        <p:spPr>
          <a:xfrm>
            <a:off x="889000" y="3222627"/>
            <a:ext cx="3175000" cy="165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A group can complete a task while members act independently or repeat work.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14AAC-EDEF-0017-75DB-B0D1CEE2AB84}"/>
              </a:ext>
            </a:extLst>
          </p:cNvPr>
          <p:cNvSpPr txBox="1"/>
          <p:nvPr/>
        </p:nvSpPr>
        <p:spPr>
          <a:xfrm>
            <a:off x="4635500" y="2727326"/>
            <a:ext cx="31750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A hidden 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395C4-97F5-CB0E-3F1C-4F01CD8E45F2}"/>
              </a:ext>
            </a:extLst>
          </p:cNvPr>
          <p:cNvSpPr txBox="1"/>
          <p:nvPr/>
        </p:nvSpPr>
        <p:spPr>
          <a:xfrm>
            <a:off x="4635500" y="3222626"/>
            <a:ext cx="3175000" cy="165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Success alone does not show which actions changed state or who contributed.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629E7-07B9-44B0-5D1A-0481CEA41D48}"/>
              </a:ext>
            </a:extLst>
          </p:cNvPr>
          <p:cNvSpPr txBox="1"/>
          <p:nvPr/>
        </p:nvSpPr>
        <p:spPr>
          <a:xfrm>
            <a:off x="8382000" y="2727326"/>
            <a:ext cx="31750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A bounded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22A70-BD85-ED29-5FAF-3BEE88633C18}"/>
              </a:ext>
            </a:extLst>
          </p:cNvPr>
          <p:cNvSpPr txBox="1"/>
          <p:nvPr/>
        </p:nvSpPr>
        <p:spPr>
          <a:xfrm>
            <a:off x="8382000" y="3222626"/>
            <a:ext cx="3175000" cy="165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Action traces expose behavior, but do not automatically establish emergence.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65CF66-16BF-CF98-19E5-9EBA54FBA870}"/>
              </a:ext>
            </a:extLst>
          </p:cNvPr>
          <p:cNvSpPr txBox="1"/>
          <p:nvPr/>
        </p:nvSpPr>
        <p:spPr>
          <a:xfrm>
            <a:off x="952500" y="5127624"/>
            <a:ext cx="10287000" cy="6360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900">
                <a:solidFill>
                  <a:srgbClr val="FF0000"/>
                </a:solidFill>
                <a:latin typeface="Trebuchet MS" panose="020B0603020202020204" pitchFamily="34" charset="0"/>
              </a:rPr>
              <a:t>Study lens: actions + shared state + stopping outcome, interpreted within the evidence boundary.</a:t>
            </a:r>
            <a:endParaRPr lang="en-IN" sz="19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4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D508C0-A90B-0239-B4D6-4DE7A358E34A}"/>
              </a:ext>
            </a:extLst>
          </p:cNvPr>
          <p:cNvSpPr txBox="1"/>
          <p:nvPr/>
        </p:nvSpPr>
        <p:spPr>
          <a:xfrm>
            <a:off x="492125" y="1171573"/>
            <a:ext cx="9271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 dirty="0">
                <a:solidFill>
                  <a:srgbClr val="0000FF"/>
                </a:solidFill>
                <a:latin typeface="Trebuchet MS" panose="020B0603020202020204" pitchFamily="34" charset="0"/>
              </a:rPr>
              <a:t>From group guessing to tool use</a:t>
            </a:r>
            <a:endParaRPr lang="en-IN" sz="2100" dirty="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E40C7-9384-0DBB-2903-B8FE5BF402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1778000"/>
            <a:ext cx="889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9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BF604-BD14-9A75-0DCC-08BE4CECA771}"/>
              </a:ext>
            </a:extLst>
          </p:cNvPr>
          <p:cNvSpPr txBox="1"/>
          <p:nvPr/>
        </p:nvSpPr>
        <p:spPr>
          <a:xfrm>
            <a:off x="635000" y="1308100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Three descriptive research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23C21-22D5-AAE5-F288-D69FB72A661B}"/>
              </a:ext>
            </a:extLst>
          </p:cNvPr>
          <p:cNvSpPr txBox="1"/>
          <p:nvPr/>
        </p:nvSpPr>
        <p:spPr>
          <a:xfrm>
            <a:off x="635000" y="1892299"/>
            <a:ext cx="1092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Matched assignments organize comparisons; they do not remove all design limits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7F422-CBDA-6127-EE09-B632B0FC6CB6}"/>
              </a:ext>
            </a:extLst>
          </p:cNvPr>
          <p:cNvSpPr txBox="1"/>
          <p:nvPr/>
        </p:nvSpPr>
        <p:spPr>
          <a:xfrm>
            <a:off x="8890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01 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638B8-E801-F276-B5AC-DD67021FE3FB}"/>
              </a:ext>
            </a:extLst>
          </p:cNvPr>
          <p:cNvSpPr txBox="1"/>
          <p:nvPr/>
        </p:nvSpPr>
        <p:spPr>
          <a:xfrm>
            <a:off x="889000" y="3327401"/>
            <a:ext cx="3175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How do success, partial, and failure counts differ across matched policies?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0FA6F-7362-97D0-193B-910656ACE36D}"/>
              </a:ext>
            </a:extLst>
          </p:cNvPr>
          <p:cNvSpPr txBox="1"/>
          <p:nvPr/>
        </p:nvSpPr>
        <p:spPr>
          <a:xfrm>
            <a:off x="46355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02  Behavior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D50FA6-7A29-0FD0-1C4D-20EC2D2B814E}"/>
              </a:ext>
            </a:extLst>
          </p:cNvPr>
          <p:cNvSpPr txBox="1"/>
          <p:nvPr/>
        </p:nvSpPr>
        <p:spPr>
          <a:xfrm>
            <a:off x="4635500" y="3327401"/>
            <a:ext cx="3175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How do action volume, tool mix, and nominal actor participation differ?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CDEFD-5C2D-4F0E-088E-8C078C1BC722}"/>
              </a:ext>
            </a:extLst>
          </p:cNvPr>
          <p:cNvSpPr txBox="1"/>
          <p:nvPr/>
        </p:nvSpPr>
        <p:spPr>
          <a:xfrm>
            <a:off x="83820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03  Stopping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F0A2B-A912-8638-C7E0-E876C534AA02}"/>
              </a:ext>
            </a:extLst>
          </p:cNvPr>
          <p:cNvSpPr txBox="1"/>
          <p:nvPr/>
        </p:nvSpPr>
        <p:spPr>
          <a:xfrm>
            <a:off x="8382000" y="3327401"/>
            <a:ext cx="3175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When do episodes finalize with required work still unresolved?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1A38F-C7A7-F802-3744-1123A5310529}"/>
              </a:ext>
            </a:extLst>
          </p:cNvPr>
          <p:cNvSpPr txBox="1"/>
          <p:nvPr/>
        </p:nvSpPr>
        <p:spPr>
          <a:xfrm>
            <a:off x="952500" y="5232399"/>
            <a:ext cx="10287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900">
                <a:solidFill>
                  <a:srgbClr val="FF0000"/>
                </a:solidFill>
                <a:latin typeface="Trebuchet MS" panose="020B0603020202020204" pitchFamily="34" charset="0"/>
              </a:rPr>
              <a:t>Contribution: auditable action-to-outcome traces in a controlled synthetic environment.</a:t>
            </a:r>
            <a:endParaRPr lang="en-IN" sz="19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58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ECBFA1-27D5-FED4-0A05-B17C20119230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Repeated fixtures support matched policy comparisons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22CD1-7DE4-E646-39E1-6DA8D4F443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653" y="1778000"/>
            <a:ext cx="889069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0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C1E42A-07F5-7EA3-53DA-17F569CA1D0C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One shared state, different actor-assignment rules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D600D-593F-55E3-2983-121ED9530F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653" y="1778000"/>
            <a:ext cx="889069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5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B1170-2C94-8258-9BF3-0ADD707042CA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The pipeline links assignments, execution, and audit outputs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BE992-0F02-8BF7-786C-0030C4AA6F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283" y="1778000"/>
            <a:ext cx="803143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9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D9C89-8AA0-A9A5-E3C6-1D17DB2B6B8B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Validation and recovery bound model and tool failures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411A0-6FBD-E29E-B9A1-5903C00E3F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283" y="1778000"/>
            <a:ext cx="803143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5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D8E71-AA1B-2B88-26AA-F86DEFC3AEB2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Success dominated, with five partial outcomes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4CAA2-9D28-4B79-7978-0C0CFB651D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13" y="1778000"/>
            <a:ext cx="833757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5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AD249A-E9F5-5BC3-BDBF-C4D896B08770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All paired success-rate intervals include zero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ED1B-FC85-94E1-DA92-0D08BA95DD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628" y="1778000"/>
            <a:ext cx="865674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5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665220-0701-3A07-03D5-6540069C7798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Five episodes finalized with calls remaining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A1761E-27E2-4DAC-033F-C10621925C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647" y="1778000"/>
            <a:ext cx="8768706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1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6DD75-6D9C-1F51-F92D-FF19CDE884AA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Call totals and tool mix vary by policy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5D6CC-5BE2-E797-1803-F955126337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724" y="1778000"/>
            <a:ext cx="7926552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21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4C0142-1D70-8779-D851-52E33812D812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Collection retries are separate from final task outcomes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AF699-D745-DE14-4E0E-6E013F4FFF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913" y="1778000"/>
            <a:ext cx="815217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3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2DF9B9-5603-D07E-A8A4-A7DF24930DD4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Coarse action labels limit mutual-information claims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01D1A-850E-A710-7A7F-BDF0FDED8C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644" y="1778000"/>
            <a:ext cx="8866711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7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B926F-481C-B4AD-626F-EE8183F47DA6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Finalized actions dominate the observed joint profiles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417D2-326D-DD9B-AB59-60EE1D5EC1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99" y="1778000"/>
            <a:ext cx="8176202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8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1A627-7FEA-F0CD-3EB7-29954A71A46C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Assignment rules shape nominal participation patterns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432E0-839F-604F-DD5F-D0B5C422FA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170" y="1778000"/>
            <a:ext cx="7279661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8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EDDDA5-89BF-6F0C-6D91-462DB290737E}"/>
              </a:ext>
            </a:extLst>
          </p:cNvPr>
          <p:cNvSpPr txBox="1"/>
          <p:nvPr/>
        </p:nvSpPr>
        <p:spPr>
          <a:xfrm>
            <a:off x="533400" y="1168399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Billing was the only fixture family with partial outcomes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5B2EE-980F-FA45-C698-A56D54FE05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147" y="1778000"/>
            <a:ext cx="8399706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84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EFE040-8208-2AC3-E11F-E03ECA3B6175}"/>
              </a:ext>
            </a:extLst>
          </p:cNvPr>
          <p:cNvSpPr txBox="1"/>
          <p:nvPr/>
        </p:nvSpPr>
        <p:spPr>
          <a:xfrm>
            <a:off x="635000" y="1308100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2100">
                <a:solidFill>
                  <a:srgbClr val="0000FF"/>
                </a:solidFill>
                <a:latin typeface="Trebuchet MS" panose="020B0603020202020204" pitchFamily="34" charset="0"/>
              </a:rPr>
              <a:t>What the evidence supports - and does not</a:t>
            </a:r>
            <a:endParaRPr lang="en-IN" sz="2100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236CF-D262-FA5A-4262-9A2DDC91E621}"/>
              </a:ext>
            </a:extLst>
          </p:cNvPr>
          <p:cNvSpPr txBox="1"/>
          <p:nvPr/>
        </p:nvSpPr>
        <p:spPr>
          <a:xfrm>
            <a:off x="635000" y="1892299"/>
            <a:ext cx="1092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Interpret results within task, model, and action-interface boundaries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551F9-F83F-E447-9689-3C2DB0DD4248}"/>
              </a:ext>
            </a:extLst>
          </p:cNvPr>
          <p:cNvSpPr txBox="1"/>
          <p:nvPr/>
        </p:nvSpPr>
        <p:spPr>
          <a:xfrm>
            <a:off x="8890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Supports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E4FD1-C007-FB89-2656-8E1A7727DABA}"/>
              </a:ext>
            </a:extLst>
          </p:cNvPr>
          <p:cNvSpPr txBox="1"/>
          <p:nvPr/>
        </p:nvSpPr>
        <p:spPr>
          <a:xfrm>
            <a:off x="889000" y="3327401"/>
            <a:ext cx="3175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Auditable traces; descriptive outcomes; a concrete early-finalization pattern.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3170F-9826-92ED-0BBF-AA9EB16493CE}"/>
              </a:ext>
            </a:extLst>
          </p:cNvPr>
          <p:cNvSpPr txBox="1"/>
          <p:nvPr/>
        </p:nvSpPr>
        <p:spPr>
          <a:xfrm>
            <a:off x="46355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Does not establish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54AC7-0711-856F-C856-85869E52C150}"/>
              </a:ext>
            </a:extLst>
          </p:cNvPr>
          <p:cNvSpPr txBox="1"/>
          <p:nvPr/>
        </p:nvSpPr>
        <p:spPr>
          <a:xfrm>
            <a:off x="4635500" y="3327401"/>
            <a:ext cx="3175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Policy superiority, a prompt-only causal effect, or emergent specialization.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FD5C1-B0D7-61B2-100F-48E896B9B5C2}"/>
              </a:ext>
            </a:extLst>
          </p:cNvPr>
          <p:cNvSpPr txBox="1"/>
          <p:nvPr/>
        </p:nvSpPr>
        <p:spPr>
          <a:xfrm>
            <a:off x="8382000" y="2832101"/>
            <a:ext cx="3175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Important limits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7D857B-FA4E-EB8C-F90D-424E33BD79E1}"/>
              </a:ext>
            </a:extLst>
          </p:cNvPr>
          <p:cNvSpPr txBox="1"/>
          <p:nvPr/>
        </p:nvSpPr>
        <p:spPr>
          <a:xfrm>
            <a:off x="8382000" y="3327402"/>
            <a:ext cx="3175000" cy="115929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One model/provider; synthetic fixtures; supplied patches; tests do not execute code.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3C8BF-B4D8-05B1-C04A-FC70FFBA5180}"/>
              </a:ext>
            </a:extLst>
          </p:cNvPr>
          <p:cNvSpPr txBox="1"/>
          <p:nvPr/>
        </p:nvSpPr>
        <p:spPr>
          <a:xfrm>
            <a:off x="952500" y="5232399"/>
            <a:ext cx="10287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900">
                <a:solidFill>
                  <a:srgbClr val="FF0000"/>
                </a:solidFill>
                <a:latin typeface="Trebuchet MS" panose="020B0603020202020204" pitchFamily="34" charset="0"/>
              </a:rPr>
              <a:t>The MI statistic is not the motivating paper's temporal information decomposition.</a:t>
            </a:r>
            <a:endParaRPr lang="en-IN" sz="19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261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FE3F0-77A3-C501-26E4-E4F982269779}"/>
              </a:ext>
            </a:extLst>
          </p:cNvPr>
          <p:cNvSpPr txBox="1"/>
          <p:nvPr/>
        </p:nvSpPr>
        <p:spPr>
          <a:xfrm>
            <a:off x="635000" y="1308100"/>
            <a:ext cx="10922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Takeaways and next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A11CD-9BE8-3208-02D5-C83876A887B5}"/>
              </a:ext>
            </a:extLst>
          </p:cNvPr>
          <p:cNvSpPr txBox="1"/>
          <p:nvPr/>
        </p:nvSpPr>
        <p:spPr>
          <a:xfrm>
            <a:off x="635000" y="1892299"/>
            <a:ext cx="1092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Stronger coordination claims need separable interventions and richer evidence</a:t>
            </a:r>
            <a:endParaRPr lang="en-IN" sz="1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FB817-69C5-5FD7-91D4-52CC1D7B1798}"/>
              </a:ext>
            </a:extLst>
          </p:cNvPr>
          <p:cNvSpPr txBox="1"/>
          <p:nvPr/>
        </p:nvSpPr>
        <p:spPr>
          <a:xfrm>
            <a:off x="1016000" y="2832101"/>
            <a:ext cx="4699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What we observed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47033-A5FC-AE83-8B8C-AE9FFB545A64}"/>
              </a:ext>
            </a:extLst>
          </p:cNvPr>
          <p:cNvSpPr txBox="1"/>
          <p:nvPr/>
        </p:nvSpPr>
        <p:spPr>
          <a:xfrm>
            <a:off x="1016000" y="3327402"/>
            <a:ext cx="4699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192 final traces; 187 successes; 5 partials; 0 failures. Every partial finalized early in billing.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F99C2-01C1-8E66-F20F-A736F0C62D5A}"/>
              </a:ext>
            </a:extLst>
          </p:cNvPr>
          <p:cNvSpPr txBox="1"/>
          <p:nvPr/>
        </p:nvSpPr>
        <p:spPr>
          <a:xfrm>
            <a:off x="6477000" y="2832101"/>
            <a:ext cx="4699000" cy="3744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IN" sz="2100">
                <a:solidFill>
                  <a:srgbClr val="0000FF"/>
                </a:solidFill>
                <a:latin typeface="Trebuchet MS" panose="020B0603020202020204" pitchFamily="34" charset="0"/>
              </a:rPr>
              <a:t>What to test next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12534-0525-ED3B-E855-D69DA5AB4BB1}"/>
              </a:ext>
            </a:extLst>
          </p:cNvPr>
          <p:cNvSpPr txBox="1"/>
          <p:nvPr/>
        </p:nvSpPr>
        <p:spPr>
          <a:xfrm>
            <a:off x="6477000" y="3327401"/>
            <a:ext cx="4699000" cy="88229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Trebuchet MS" panose="020B0603020202020204" pitchFamily="34" charset="0"/>
              </a:rPr>
              <a:t>Separate wording from actor assignment; preserve action order; broaden validated task difficulty.</a:t>
            </a:r>
            <a:endParaRPr lang="en-IN" sz="18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C9E14-0260-851D-8FE2-A4C61EEB2FF6}"/>
              </a:ext>
            </a:extLst>
          </p:cNvPr>
          <p:cNvSpPr txBox="1"/>
          <p:nvPr/>
        </p:nvSpPr>
        <p:spPr>
          <a:xfrm>
            <a:off x="952500" y="5232399"/>
            <a:ext cx="10287000" cy="6360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900">
                <a:solidFill>
                  <a:srgbClr val="FF0000"/>
                </a:solidFill>
                <a:latin typeface="Trebuchet MS" panose="020B0603020202020204" pitchFamily="34" charset="0"/>
              </a:rPr>
              <a:t>Bottom line: action traces make behavior inspectable; current results remain descriptive and bounded.</a:t>
            </a:r>
            <a:endParaRPr lang="en-IN" sz="19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321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FC5A8-8213-6ACE-02C2-18480D79BC39}"/>
              </a:ext>
            </a:extLst>
          </p:cNvPr>
          <p:cNvSpPr txBox="1"/>
          <p:nvPr/>
        </p:nvSpPr>
        <p:spPr>
          <a:xfrm>
            <a:off x="630237" y="3064796"/>
            <a:ext cx="10931525" cy="72840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sz="4400" b="1" dirty="0">
                <a:solidFill>
                  <a:srgbClr val="FF0000"/>
                </a:solidFill>
                <a:latin typeface="Trebuchet MS" panose="020B0603020202020204" pitchFamily="34" charset="0"/>
              </a:rPr>
              <a:t>Thank You</a:t>
            </a:r>
            <a:endParaRPr lang="en-IN" sz="4400" b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148C3-CF24-34E9-2B5E-612EA6F7CB74}"/>
              </a:ext>
            </a:extLst>
          </p:cNvPr>
          <p:cNvSpPr txBox="1"/>
          <p:nvPr/>
        </p:nvSpPr>
        <p:spPr>
          <a:xfrm>
            <a:off x="4302124" y="5594444"/>
            <a:ext cx="358775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2100" dirty="0">
                <a:solidFill>
                  <a:srgbClr val="0000FF"/>
                </a:solidFill>
                <a:latin typeface="Trebuchet MS" panose="020B0603020202020204" pitchFamily="34" charset="0"/>
              </a:rPr>
              <a:t>Questions and discussion?</a:t>
            </a:r>
          </a:p>
        </p:txBody>
      </p:sp>
    </p:spTree>
    <p:extLst>
      <p:ext uri="{BB962C8B-B14F-4D97-AF65-F5344CB8AC3E}">
        <p14:creationId xmlns:p14="http://schemas.microsoft.com/office/powerpoint/2010/main" val="133822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440</Words>
  <Application>Microsoft Office PowerPoint</Application>
  <PresentationFormat>Widescreen</PresentationFormat>
  <Paragraphs>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Dhruva N</dc:creator>
  <cp:lastModifiedBy>Dhruva N</cp:lastModifiedBy>
  <cp:revision>14</cp:revision>
  <dcterms:created xsi:type="dcterms:W3CDTF">2026-10-20T18:30:08Z</dcterms:created>
  <dcterms:modified xsi:type="dcterms:W3CDTF">2026-10-20T19:34:09Z</dcterms:modified>
</cp:coreProperties>
</file>